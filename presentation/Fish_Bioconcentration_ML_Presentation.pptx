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69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BCEA3C-F5E0-4FB2-B1FD-130500DDFA10}" v="25" dt="2026-07-15T12:48:19.4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949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DBE3F-12B7-624F-330F-E516E8722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FC869-38D3-F00E-C014-B459D2937F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FFD73C-68F9-2726-F7B6-1CFCAE8F23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ECDC4-5571-B670-EA90-F977B027BB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0462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D42DC-A593-3B0A-80BD-E787BCFD0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4BDB3D-ADE1-A353-43C7-19C5005D39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AC8B70-4534-0829-AC6F-A3A45C647E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CFCCE-AB5B-F655-E87D-A73DFFDFF5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081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6B03C-7174-C7BF-4D0A-992CCD6F6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623ED1-FEC9-3629-4337-9DC0C7E69A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1D538C-4561-BDF6-2365-C4D4921E6A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0CA55-8717-63F5-D89A-C97540672D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6044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0B2A43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-1097280" y="4937760"/>
            <a:ext cx="3291840" cy="3291840"/>
          </a:xfrm>
          <a:prstGeom prst="ellipse">
            <a:avLst/>
          </a:prstGeom>
          <a:solidFill>
            <a:srgbClr val="0B2A43">
              <a:alpha val="6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DATA SCIENCE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Chemical Bioconcentration in Fish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Machine Learning for Environmental Risk Assessment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Logistic Regression, Random Forest and XGBoost as hazard-screening classifiers on the QSAR fish bioconcentration dataset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29260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22960" y="4892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Danushmathi Pathmanaban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52852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M.Sc. Data Science Student  •  Student ID: 23072008</a:t>
            </a:r>
            <a:endParaRPr lang="en-US" sz="1300" dirty="0"/>
          </a:p>
        </p:txBody>
      </p:sp>
      <p:pic>
        <p:nvPicPr>
          <p:cNvPr id="11" name="Image 0" descr="/home/claude/ppt_work/figs/icon_l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742432"/>
            <a:ext cx="219456" cy="21945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3000" y="5715000"/>
            <a:ext cx="10104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9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https://github.com/DANUSHMATHI2002/Final-Project_Predicting-Chemical-Bioconcentration-in-Fish-Using-Machine-Learning.git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7PAM2002 – Data Science Project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029200" y="65471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B2A4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/home/claude/ppt_work/figs/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6692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43584" y="62179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02920" y="14173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02920" y="1828800"/>
            <a:ext cx="5577840" cy="4206240"/>
          </a:xfrm>
          <a:prstGeom prst="roundRect">
            <a:avLst>
              <a:gd name="adj" fmla="val 1739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777240" y="2029968"/>
            <a:ext cx="5074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Bioconcentration Factor (BCF) tests are essential for chemical safety regulation (REACH, GHS)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real BCF testing costs €35,000+ and needs 100+ fish per compound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on molecular descriptors offers a cheap, animal-free screening alternative (</a:t>
            </a:r>
            <a:r>
              <a:rPr lang="en-US" sz="135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“3Rs” principle - </a:t>
            </a: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Replacement, Reduction, Refinement</a:t>
            </a: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50" dirty="0"/>
          </a:p>
          <a:p>
            <a:pPr marL="342900" indent="-342900">
              <a:buSzPct val="100000"/>
              <a:buChar char="▪"/>
            </a:pPr>
            <a:r>
              <a:rPr lang="en-US" sz="13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accurate classifiers could flag hazardous chemicals early — before costly lab testing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355080" y="14173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355080" y="182880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0B2A43"/>
          </a:solidFill>
          <a:ln/>
          <a:effectLst>
            <a:outerShdw blurRad="76200" dist="25400" dir="5400000" algn="bl" rotWithShape="0">
              <a:srgbClr val="888888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6629400" y="210312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machine learning model -  Logistic Regression, Random Forest, or </a:t>
            </a:r>
            <a:r>
              <a:rPr lang="en-US" sz="1600" i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- best detects potentially hazardous chemicals from the QSAR fish bioconcentration dataset, judged by F1-score?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629400" y="3977640"/>
            <a:ext cx="448056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6629400" y="4160520"/>
            <a:ext cx="4800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the three models differ in trading off recall (catching true dangers) against precision (avoiding false alarms)?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7PAM2002 – Data Science Project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029200" y="65471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B2A4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/home/claude/ppt_work/figs/icon_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6692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43584" y="62179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Work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508760"/>
            <a:ext cx="3584448" cy="3977640"/>
          </a:xfrm>
          <a:prstGeom prst="roundRect">
            <a:avLst>
              <a:gd name="adj" fmla="val 2041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888888">
                <a:alpha val="2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502920" y="1508760"/>
            <a:ext cx="3584448" cy="777240"/>
          </a:xfrm>
          <a:prstGeom prst="roundRect">
            <a:avLst>
              <a:gd name="adj" fmla="val 9412"/>
            </a:avLst>
          </a:prstGeom>
          <a:solidFill>
            <a:srgbClr val="0B2A4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502920" y="1965960"/>
            <a:ext cx="3584448" cy="320040"/>
          </a:xfrm>
          <a:prstGeom prst="rect">
            <a:avLst/>
          </a:prstGeom>
          <a:solidFill>
            <a:srgbClr val="0B2A4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685800" y="1572768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Grisoni et al. (2016)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" y="192024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International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04088" y="2423160"/>
            <a:ext cx="318211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GB" sz="1250" b="1" dirty="0"/>
              <a:t>Dataset:</a:t>
            </a:r>
            <a:r>
              <a:rPr lang="en-GB" sz="1250" dirty="0"/>
              <a:t> 779 chemicals (the dataset used in this project) </a:t>
            </a:r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GB" sz="1250" b="1" dirty="0"/>
              <a:t>Algorithm:</a:t>
            </a:r>
            <a:r>
              <a:rPr lang="en-GB" sz="1250" dirty="0"/>
              <a:t> CART decision trees </a:t>
            </a:r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GB" sz="1250" b="1" dirty="0"/>
              <a:t>Result:</a:t>
            </a:r>
            <a:r>
              <a:rPr lang="en-GB" sz="1250" dirty="0"/>
              <a:t> ~ 0.75 accuracy </a:t>
            </a:r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GB" sz="1250" b="1" dirty="0"/>
              <a:t>Conclusion:</a:t>
            </a:r>
            <a:r>
              <a:rPr lang="en-GB" sz="1250" dirty="0"/>
              <a:t> Simple trees can also reveal </a:t>
            </a:r>
            <a:r>
              <a:rPr lang="en-GB" sz="1250" i="1" dirty="0"/>
              <a:t>why</a:t>
            </a:r>
            <a:r>
              <a:rPr lang="en-GB" sz="1250" dirty="0"/>
              <a:t> a chemical is dangerous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15968" y="1508760"/>
            <a:ext cx="3584448" cy="3977640"/>
          </a:xfrm>
          <a:prstGeom prst="roundRect">
            <a:avLst>
              <a:gd name="adj" fmla="val 2041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888888">
                <a:alpha val="2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4315968" y="1508760"/>
            <a:ext cx="3584448" cy="777240"/>
          </a:xfrm>
          <a:prstGeom prst="roundRect">
            <a:avLst>
              <a:gd name="adj" fmla="val 9412"/>
            </a:avLst>
          </a:prstGeom>
          <a:solidFill>
            <a:srgbClr val="0B2A4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4315968" y="1965960"/>
            <a:ext cx="3584448" cy="320040"/>
          </a:xfrm>
          <a:prstGeom prst="rect">
            <a:avLst/>
          </a:prstGeom>
          <a:solidFill>
            <a:srgbClr val="0B2A4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4498848" y="1572768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Kobayashi &amp; Yoshida (2021)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498848" y="192024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Ecological Informatics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17136" y="2423160"/>
            <a:ext cx="318211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GB" sz="1250" b="1" dirty="0"/>
              <a:t>Dataset:</a:t>
            </a:r>
            <a:r>
              <a:rPr lang="en-GB" sz="1250" dirty="0"/>
              <a:t> 522 chemicals </a:t>
            </a:r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GB" sz="1250" b="1" dirty="0"/>
              <a:t>Algorithm:</a:t>
            </a:r>
            <a:r>
              <a:rPr lang="en-GB" sz="1250" dirty="0"/>
              <a:t> Gradient Boosting vs. Linear Regression vs. SVM </a:t>
            </a:r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GB" sz="1250" b="1" dirty="0"/>
              <a:t>Result:</a:t>
            </a:r>
            <a:r>
              <a:rPr lang="en-GB" sz="1250" dirty="0"/>
              <a:t> Boosting far more accurate (R² = 0.92 train / 0.86 test)</a:t>
            </a:r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GB" sz="1250" dirty="0"/>
              <a:t> </a:t>
            </a:r>
            <a:r>
              <a:rPr lang="en-GB" sz="1250" b="1" dirty="0"/>
              <a:t>Conclusion:</a:t>
            </a:r>
            <a:r>
              <a:rPr lang="en-GB" sz="1250" dirty="0"/>
              <a:t> Tree-based boosting beats simple regression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129016" y="1508760"/>
            <a:ext cx="3584448" cy="3977640"/>
          </a:xfrm>
          <a:prstGeom prst="roundRect">
            <a:avLst>
              <a:gd name="adj" fmla="val 2041"/>
            </a:avLst>
          </a:prstGeom>
          <a:solidFill>
            <a:srgbClr val="F2F7FA"/>
          </a:solidFill>
          <a:ln/>
          <a:effectLst>
            <a:outerShdw blurRad="76200" dist="25400" dir="5400000" algn="bl" rotWithShape="0">
              <a:srgbClr val="888888">
                <a:alpha val="2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8129016" y="1508760"/>
            <a:ext cx="3584448" cy="777240"/>
          </a:xfrm>
          <a:prstGeom prst="roundRect">
            <a:avLst>
              <a:gd name="adj" fmla="val 9412"/>
            </a:avLst>
          </a:prstGeom>
          <a:solidFill>
            <a:srgbClr val="0B2A4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8129016" y="1965960"/>
            <a:ext cx="3584448" cy="320040"/>
          </a:xfrm>
          <a:prstGeom prst="rect">
            <a:avLst/>
          </a:prstGeom>
          <a:solidFill>
            <a:srgbClr val="0B2A4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8311896" y="1572768"/>
            <a:ext cx="321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Pore et al. (2024)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311896" y="1920240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of Hazardous Materials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330184" y="2423160"/>
            <a:ext cx="318211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GB" sz="1250" b="1" dirty="0"/>
              <a:t>Dataset:</a:t>
            </a:r>
            <a:r>
              <a:rPr lang="en-GB" sz="1250" dirty="0"/>
              <a:t> 575 chemicals </a:t>
            </a:r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GB" sz="1250" b="1" dirty="0"/>
              <a:t>Algorithm:</a:t>
            </a:r>
            <a:r>
              <a:rPr lang="en-GB" sz="1250" dirty="0"/>
              <a:t> q-RASAR (similarity search + ML) </a:t>
            </a:r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GB" sz="1250" b="1" dirty="0"/>
              <a:t>Result:</a:t>
            </a:r>
            <a:r>
              <a:rPr lang="en-GB" sz="1250" dirty="0"/>
              <a:t> Beat standard ML prediction alone </a:t>
            </a:r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GB" sz="1250" b="1" dirty="0"/>
              <a:t>Conclusion:</a:t>
            </a:r>
            <a:r>
              <a:rPr lang="en-GB" sz="1250" dirty="0"/>
              <a:t> Combining similarity search with ML improves accuracy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02920" y="5650992"/>
            <a:ext cx="11201400" cy="621792"/>
          </a:xfrm>
          <a:prstGeom prst="roundRect">
            <a:avLst>
              <a:gd name="adj" fmla="val 8824"/>
            </a:avLst>
          </a:prstGeom>
          <a:solidFill>
            <a:srgbClr val="EAF3E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731520" y="5705856"/>
            <a:ext cx="10744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250" i="1" dirty="0">
                <a:solidFill>
                  <a:schemeClr val="accent6">
                    <a:lumMod val="75000"/>
                  </a:schemeClr>
                </a:solidFill>
              </a:rPr>
              <a:t>All three studies found the same thing: tree-based models beat simple linear models. That's why this project compares Logistic Regression, Random Forest, and </a:t>
            </a:r>
            <a:r>
              <a:rPr lang="en-GB" sz="1250" i="1" dirty="0" err="1">
                <a:solidFill>
                  <a:schemeClr val="accent6">
                    <a:lumMod val="75000"/>
                  </a:schemeClr>
                </a:solidFill>
              </a:rPr>
              <a:t>XGBoost</a:t>
            </a:r>
            <a:r>
              <a:rPr lang="en-GB" sz="1250" i="1" dirty="0">
                <a:solidFill>
                  <a:schemeClr val="accent6">
                    <a:lumMod val="75000"/>
                  </a:schemeClr>
                </a:solidFill>
              </a:rPr>
              <a:t> directly.</a:t>
            </a:r>
            <a:endParaRPr lang="en-US" sz="1250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6" name="Text 23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7PAM2002 – Data Science Project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029200" y="65471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B2A4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/home/claude/ppt_work/figs/icon_bra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6692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43584" y="62179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Approach &amp; the Gap It Fills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79121" y="1584099"/>
            <a:ext cx="5440680" cy="2107328"/>
          </a:xfrm>
          <a:prstGeom prst="roundRect">
            <a:avLst>
              <a:gd name="adj" fmla="val 1649"/>
            </a:avLst>
          </a:prstGeom>
          <a:solidFill>
            <a:srgbClr val="F2F7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804672" y="167444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prior work did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038616"/>
            <a:ext cx="4846320" cy="1584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GB" sz="1400" dirty="0" err="1"/>
              <a:t>Grisoni</a:t>
            </a:r>
            <a:r>
              <a:rPr lang="en-GB" sz="1400" dirty="0"/>
              <a:t> only tested one simple model — never compared it against stronger options.</a:t>
            </a: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GB" sz="1400" dirty="0"/>
              <a:t> Kobayashi and Pore predicted a raw number (BCF value) - not a simple "safe or dangerous" answer.</a:t>
            </a: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GB" sz="1400" dirty="0"/>
              <a:t> None of them dealt with the fact that dangerous chemicals heavily outnumber safe ones in the data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17920" y="1554480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0B2A43"/>
          </a:solidFill>
          <a:ln/>
          <a:effectLst>
            <a:outerShdw blurRad="76200" dist="25400" dir="5400000" algn="bl" rotWithShape="0">
              <a:srgbClr val="888888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6492240" y="17556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does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37960" y="2240280"/>
            <a:ext cx="4892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GB" sz="1400" b="1" dirty="0">
                <a:solidFill>
                  <a:schemeClr val="bg1"/>
                </a:solidFill>
              </a:rPr>
              <a:t>Classify samples as Dangerous or Safe</a:t>
            </a:r>
            <a:r>
              <a:rPr lang="en-GB" sz="1400" dirty="0">
                <a:solidFill>
                  <a:schemeClr val="bg1"/>
                </a:solidFill>
              </a:rPr>
              <a:t> (binary hazard classification). </a:t>
            </a: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GB" sz="1400" b="1" dirty="0">
                <a:solidFill>
                  <a:schemeClr val="bg1"/>
                </a:solidFill>
              </a:rPr>
              <a:t>Use a leak-free pipeline:</a:t>
            </a:r>
            <a:r>
              <a:rPr lang="en-GB" sz="1400" dirty="0">
                <a:solidFill>
                  <a:schemeClr val="bg1"/>
                </a:solidFill>
              </a:rPr>
              <a:t>  </a:t>
            </a:r>
            <a:r>
              <a:rPr lang="en-GB" sz="1400" dirty="0" err="1">
                <a:solidFill>
                  <a:schemeClr val="bg1"/>
                </a:solidFill>
              </a:rPr>
              <a:t>StandardScaler</a:t>
            </a:r>
            <a:r>
              <a:rPr lang="en-GB" sz="1400" dirty="0">
                <a:solidFill>
                  <a:schemeClr val="bg1"/>
                </a:solidFill>
              </a:rPr>
              <a:t> → SMOTE → Classifier. </a:t>
            </a: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GB" sz="1400" b="1" dirty="0">
                <a:solidFill>
                  <a:schemeClr val="bg1"/>
                </a:solidFill>
              </a:rPr>
              <a:t>Refit the pipeline in every CV fold</a:t>
            </a:r>
            <a:r>
              <a:rPr lang="en-GB" sz="1400" dirty="0">
                <a:solidFill>
                  <a:schemeClr val="bg1"/>
                </a:solidFill>
              </a:rPr>
              <a:t> to prevent data leakage.</a:t>
            </a: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GB" sz="1400" b="1" dirty="0">
                <a:solidFill>
                  <a:schemeClr val="bg1"/>
                </a:solidFill>
              </a:rPr>
              <a:t>Compare LR, RF, and </a:t>
            </a:r>
            <a:r>
              <a:rPr lang="en-GB" sz="1400" b="1" dirty="0" err="1">
                <a:solidFill>
                  <a:schemeClr val="bg1"/>
                </a:solidFill>
              </a:rPr>
              <a:t>XGBoost</a:t>
            </a:r>
            <a:r>
              <a:rPr lang="en-GB" sz="1400" dirty="0">
                <a:solidFill>
                  <a:schemeClr val="bg1"/>
                </a:solidFill>
              </a:rPr>
              <a:t> models. </a:t>
            </a:r>
            <a:r>
              <a:rPr lang="en-GB" sz="1400" b="1" dirty="0">
                <a:solidFill>
                  <a:schemeClr val="bg1"/>
                </a:solidFill>
              </a:rPr>
              <a:t>Use </a:t>
            </a:r>
            <a:r>
              <a:rPr lang="en-GB" sz="1400" b="1" dirty="0" err="1">
                <a:solidFill>
                  <a:schemeClr val="bg1"/>
                </a:solidFill>
              </a:rPr>
              <a:t>GridSearchCV</a:t>
            </a:r>
            <a:r>
              <a:rPr lang="en-GB" sz="1400" dirty="0">
                <a:solidFill>
                  <a:schemeClr val="bg1"/>
                </a:solidFill>
              </a:rPr>
              <a:t> to find the best model based on the </a:t>
            </a:r>
            <a:r>
              <a:rPr lang="en-GB" sz="1400" b="1" dirty="0">
                <a:solidFill>
                  <a:schemeClr val="bg1"/>
                </a:solidFill>
              </a:rPr>
              <a:t>F1 score</a:t>
            </a:r>
            <a:r>
              <a:rPr lang="en-GB" sz="1400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b="1" dirty="0">
                <a:solidFill>
                  <a:schemeClr val="bg1"/>
                </a:solidFill>
              </a:rPr>
              <a:t>Evaluate precision and recall</a:t>
            </a:r>
            <a:r>
              <a:rPr lang="en-GB" sz="1400" dirty="0">
                <a:solidFill>
                  <a:schemeClr val="bg1"/>
                </a:solidFill>
              </a:rPr>
              <a:t> to support regulatory decisions.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7PAM2002 – Data Science Project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029200" y="65471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8258CDB7-B751-DECF-0FF4-3F64D45EF79C}"/>
              </a:ext>
            </a:extLst>
          </p:cNvPr>
          <p:cNvSpPr/>
          <p:nvPr/>
        </p:nvSpPr>
        <p:spPr>
          <a:xfrm>
            <a:off x="579121" y="3781775"/>
            <a:ext cx="5440680" cy="2207546"/>
          </a:xfrm>
          <a:prstGeom prst="roundRect">
            <a:avLst>
              <a:gd name="adj" fmla="val 1649"/>
            </a:avLst>
          </a:prstGeom>
          <a:solidFill>
            <a:srgbClr val="0B2A43"/>
          </a:solidFill>
          <a:ln/>
          <a:effectLst>
            <a:outerShdw blurRad="76200" dist="25400" dir="5400000" algn="bl" rotWithShape="0">
              <a:srgbClr val="888888">
                <a:alpha val="30000"/>
              </a:srgbClr>
            </a:outerShdw>
          </a:effectLst>
        </p:spPr>
        <p:txBody>
          <a:bodyPr/>
          <a:lstStyle/>
          <a:p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48E35555-8D73-9AFF-55B1-25385974EF12}"/>
              </a:ext>
            </a:extLst>
          </p:cNvPr>
          <p:cNvSpPr/>
          <p:nvPr/>
        </p:nvSpPr>
        <p:spPr>
          <a:xfrm>
            <a:off x="804672" y="3820651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5C7A8C"/>
                </a:solidFill>
                <a:latin typeface="Cambria" pitchFamily="34" charset="0"/>
                <a:ea typeface="Cambria" pitchFamily="34" charset="-122"/>
              </a:rPr>
              <a:t>Aquatox</a:t>
            </a:r>
            <a:r>
              <a:rPr lang="en-US" sz="1600" b="1" dirty="0">
                <a:solidFill>
                  <a:srgbClr val="5C7A8C"/>
                </a:solidFill>
                <a:latin typeface="Cambria" pitchFamily="34" charset="0"/>
                <a:ea typeface="Cambria" pitchFamily="34" charset="-122"/>
              </a:rPr>
              <a:t> AI Dashboard</a:t>
            </a:r>
            <a:endParaRPr lang="en-US" sz="1600" dirty="0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03C5FF97-F667-8232-F530-F5F515AB2B56}"/>
              </a:ext>
            </a:extLst>
          </p:cNvPr>
          <p:cNvSpPr/>
          <p:nvPr/>
        </p:nvSpPr>
        <p:spPr>
          <a:xfrm>
            <a:off x="804672" y="4214689"/>
            <a:ext cx="4846320" cy="1584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GB" sz="1400" dirty="0">
                <a:solidFill>
                  <a:schemeClr val="bg1"/>
                </a:solidFill>
              </a:rPr>
              <a:t>Real-time chemical hazard prediction. </a:t>
            </a: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GB" sz="1400" dirty="0">
                <a:solidFill>
                  <a:schemeClr val="bg1"/>
                </a:solidFill>
              </a:rPr>
              <a:t>Binary classification (</a:t>
            </a:r>
            <a:r>
              <a:rPr lang="en-GB" sz="1400" b="1" dirty="0">
                <a:solidFill>
                  <a:schemeClr val="bg1"/>
                </a:solidFill>
              </a:rPr>
              <a:t>Safe / Dangerous</a:t>
            </a:r>
            <a:r>
              <a:rPr lang="en-GB" sz="1400" dirty="0">
                <a:solidFill>
                  <a:schemeClr val="bg1"/>
                </a:solidFill>
              </a:rPr>
              <a:t>). </a:t>
            </a: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GB" sz="1400" dirty="0">
                <a:solidFill>
                  <a:schemeClr val="bg1"/>
                </a:solidFill>
              </a:rPr>
              <a:t>Confidence score for each prediction. </a:t>
            </a: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GB" sz="1400" dirty="0">
                <a:solidFill>
                  <a:schemeClr val="bg1"/>
                </a:solidFill>
              </a:rPr>
              <a:t>Explainable AI (prediction explanation). </a:t>
            </a:r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GB" sz="1400" dirty="0">
                <a:solidFill>
                  <a:schemeClr val="bg1"/>
                </a:solidFill>
              </a:rPr>
              <a:t>Easy-to-use interactive interface.</a:t>
            </a:r>
            <a:endParaRPr lang="en-US" sz="13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B2A4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/home/claude/ppt_work/figs/icon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6692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43584" y="62179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02920" y="1554480"/>
            <a:ext cx="5760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QSAR Bioconcentration Classes Dataset — UCI Machine Learning Repository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.csv file, 779 rows × 9 continuous molecular descriptors + 1 categorical target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3-class bioconcentration category (Class 1/2/3), collapsed to binary Dangerous / Safe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by Grisoni et al. (Univ. Milano-Bicocca) from literature published 1990–2015</a:t>
            </a:r>
            <a:endParaRPr lang="en-US" sz="1450" dirty="0"/>
          </a:p>
          <a:p>
            <a:pPr marL="342900" indent="-342900">
              <a:buSzPct val="100000"/>
              <a:buChar char="▪"/>
            </a:pPr>
            <a:r>
              <a:rPr lang="en-US" sz="14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DOI: 10.24432/C56S46 — archive.ics.uci.edu/dataset/510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02920" y="5074920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F2F7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502920" y="51206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779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02920" y="56235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468880" y="5074920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F2F7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2468880" y="51206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2468880" y="56235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descriptors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434840" y="5074920"/>
            <a:ext cx="1783080" cy="1051560"/>
          </a:xfrm>
          <a:prstGeom prst="roundRect">
            <a:avLst>
              <a:gd name="adj" fmla="val 6957"/>
            </a:avLst>
          </a:prstGeom>
          <a:solidFill>
            <a:srgbClr val="F2F7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4434840" y="512064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434840" y="56235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537960" y="1554480"/>
            <a:ext cx="5166360" cy="4553712"/>
          </a:xfrm>
          <a:prstGeom prst="roundRect">
            <a:avLst>
              <a:gd name="adj" fmla="val 1606"/>
            </a:avLst>
          </a:prstGeom>
          <a:solidFill>
            <a:srgbClr val="0B2A43"/>
          </a:solidFill>
          <a:ln/>
          <a:effectLst>
            <a:outerShdw blurRad="76200" dist="25400" dir="5400000" algn="bl" rotWithShape="0">
              <a:srgbClr val="888888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6812280" y="1737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9 molecular descriptors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858000" y="2148840"/>
            <a:ext cx="4663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50"/>
              </a:spcAft>
              <a:buSzPct val="100000"/>
              <a:buChar char="•"/>
            </a:pPr>
            <a:r>
              <a:rPr lang="en-US" sz="1250" dirty="0">
                <a:solidFill>
                  <a:srgbClr val="EA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nHM — heavy atom count</a:t>
            </a:r>
            <a:endParaRPr lang="en-US" sz="1250" dirty="0"/>
          </a:p>
          <a:p>
            <a:pPr marL="342900" indent="-342900">
              <a:spcAft>
                <a:spcPts val="850"/>
              </a:spcAft>
              <a:buSzPct val="100000"/>
              <a:buChar char="•"/>
            </a:pPr>
            <a:r>
              <a:rPr lang="en-US" sz="1250" dirty="0">
                <a:solidFill>
                  <a:srgbClr val="EA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piPC09 — molecular path count</a:t>
            </a:r>
            <a:endParaRPr lang="en-US" sz="1250" dirty="0"/>
          </a:p>
          <a:p>
            <a:pPr marL="342900" indent="-342900">
              <a:spcAft>
                <a:spcPts val="850"/>
              </a:spcAft>
              <a:buSzPct val="100000"/>
              <a:buChar char="•"/>
            </a:pPr>
            <a:r>
              <a:rPr lang="en-US" sz="1250" dirty="0">
                <a:solidFill>
                  <a:srgbClr val="EA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PCD — path / cluster ratio</a:t>
            </a:r>
            <a:endParaRPr lang="en-US" sz="1250" dirty="0"/>
          </a:p>
          <a:p>
            <a:pPr marL="342900" indent="-342900">
              <a:spcAft>
                <a:spcPts val="850"/>
              </a:spcAft>
              <a:buSzPct val="100000"/>
              <a:buChar char="•"/>
            </a:pPr>
            <a:r>
              <a:rPr lang="en-US" sz="1250" dirty="0">
                <a:solidFill>
                  <a:srgbClr val="EA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X2Av — valence connectivity</a:t>
            </a:r>
            <a:endParaRPr lang="en-US" sz="1250" dirty="0"/>
          </a:p>
          <a:p>
            <a:pPr marL="342900" indent="-342900">
              <a:spcAft>
                <a:spcPts val="850"/>
              </a:spcAft>
              <a:buSzPct val="100000"/>
              <a:buChar char="•"/>
            </a:pPr>
            <a:r>
              <a:rPr lang="en-US" sz="1250" dirty="0">
                <a:solidFill>
                  <a:srgbClr val="EA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MLOGP — fat-water partition</a:t>
            </a:r>
            <a:endParaRPr lang="en-US" sz="1250" dirty="0"/>
          </a:p>
          <a:p>
            <a:pPr marL="342900" indent="-342900">
              <a:spcAft>
                <a:spcPts val="850"/>
              </a:spcAft>
              <a:buSzPct val="100000"/>
              <a:buChar char="•"/>
            </a:pPr>
            <a:r>
              <a:rPr lang="en-US" sz="1250" dirty="0">
                <a:solidFill>
                  <a:srgbClr val="EA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ON1V — overall valence index</a:t>
            </a:r>
            <a:endParaRPr lang="en-US" sz="1250" dirty="0"/>
          </a:p>
          <a:p>
            <a:pPr marL="342900" indent="-342900">
              <a:spcAft>
                <a:spcPts val="850"/>
              </a:spcAft>
              <a:buSzPct val="100000"/>
              <a:buChar char="•"/>
            </a:pPr>
            <a:r>
              <a:rPr lang="en-US" sz="1250" dirty="0">
                <a:solidFill>
                  <a:srgbClr val="EA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N-072 — N-fragment count</a:t>
            </a:r>
            <a:endParaRPr lang="en-US" sz="1250" dirty="0"/>
          </a:p>
          <a:p>
            <a:pPr marL="342900" indent="-342900">
              <a:spcAft>
                <a:spcPts val="850"/>
              </a:spcAft>
              <a:buSzPct val="100000"/>
              <a:buChar char="•"/>
            </a:pPr>
            <a:r>
              <a:rPr lang="en-US" sz="1250" dirty="0">
                <a:solidFill>
                  <a:srgbClr val="EA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B02[C-N] — C–N pair (dist. 2)</a:t>
            </a:r>
            <a:endParaRPr lang="en-US" sz="1250" dirty="0"/>
          </a:p>
          <a:p>
            <a:pPr marL="342900" indent="-342900">
              <a:spcAft>
                <a:spcPts val="850"/>
              </a:spcAft>
              <a:buSzPct val="100000"/>
              <a:buChar char="•"/>
            </a:pPr>
            <a:r>
              <a:rPr lang="en-US" sz="1250" dirty="0">
                <a:solidFill>
                  <a:srgbClr val="EA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F04[C-O] — C–O pairs (dist. 4)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7PAM2002 – Data Science Project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029200" y="65471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B2A4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/home/claude/ppt_work/figs/icon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6692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43584" y="62179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Ethical Considerations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600200"/>
            <a:ext cx="11201400" cy="841248"/>
          </a:xfrm>
          <a:prstGeom prst="roundRect">
            <a:avLst>
              <a:gd name="adj" fmla="val 7609"/>
            </a:avLst>
          </a:prstGeom>
          <a:solidFill>
            <a:srgbClr val="F2F7FA"/>
          </a:solidFill>
          <a:ln w="9525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7" name="Image 1" descr="/home/claude/ppt_work/figs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1819656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682496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personal or human data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572000" y="1682496"/>
            <a:ext cx="6949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Purely chemical / molecular descriptor data — no individuals involved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02920" y="2532888"/>
            <a:ext cx="1120140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1" name="Image 2" descr="/home/claude/ppt_work/figs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752344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2615184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Public, open-access source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4572000" y="2615184"/>
            <a:ext cx="6949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Machine Learning Repository — freely licensed for research use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02920" y="3465576"/>
            <a:ext cx="11201400" cy="841248"/>
          </a:xfrm>
          <a:prstGeom prst="roundRect">
            <a:avLst>
              <a:gd name="adj" fmla="val 7609"/>
            </a:avLst>
          </a:prstGeom>
          <a:solidFill>
            <a:srgbClr val="F2F7FA"/>
          </a:solidFill>
          <a:ln w="9525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5" name="Image 3" descr="/home/claude/ppt_work/figs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685032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3547872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Non-identifiable &amp; non-sensitive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4572000" y="3547872"/>
            <a:ext cx="6949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confidential, commercial, or personal information of any kind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502920" y="4398264"/>
            <a:ext cx="1120140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9525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9" name="Image 4" descr="/home/claude/ppt_work/figs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617720"/>
            <a:ext cx="384048" cy="38404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34440" y="4480560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Secure, standard storage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4572000" y="4480560"/>
            <a:ext cx="6949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locally and in a version-controlled GitHub repository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502920" y="5330952"/>
            <a:ext cx="11201400" cy="841248"/>
          </a:xfrm>
          <a:prstGeom prst="roundRect">
            <a:avLst>
              <a:gd name="adj" fmla="val 7609"/>
            </a:avLst>
          </a:prstGeom>
          <a:solidFill>
            <a:srgbClr val="F2F7FA"/>
          </a:solidFill>
          <a:ln w="9525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3" name="Image 5" descr="/home/claude/ppt_work/figs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550408"/>
            <a:ext cx="384048" cy="38404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234440" y="5413248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Supports the 3Rs principle</a:t>
            </a:r>
            <a:endParaRPr lang="en-US" sz="1350" dirty="0"/>
          </a:p>
        </p:txBody>
      </p:sp>
      <p:sp>
        <p:nvSpPr>
          <p:cNvPr id="25" name="Text 17"/>
          <p:cNvSpPr/>
          <p:nvPr/>
        </p:nvSpPr>
        <p:spPr>
          <a:xfrm>
            <a:off x="4572000" y="5413248"/>
            <a:ext cx="6949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Reusing existing BCF data reduces the need for new animal testing (Replacement, Reduction, Refinement)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7PAM2002 – Data Science Project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5029200" y="65471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B2A4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/home/claude/ppt_work/figs/icon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6692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43584" y="62179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000" dirty="0"/>
          </a:p>
        </p:txBody>
      </p:sp>
      <p:pic>
        <p:nvPicPr>
          <p:cNvPr id="6" name="Image 1" descr="/home/claude/ppt_work/figs/01_class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508760"/>
            <a:ext cx="4160520" cy="3465576"/>
          </a:xfrm>
          <a:prstGeom prst="rect">
            <a:avLst/>
          </a:prstGeom>
        </p:spPr>
      </p:pic>
      <p:pic>
        <p:nvPicPr>
          <p:cNvPr id="7" name="Image 2" descr="/home/claude/ppt_work/figs/02_correlation_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1508760"/>
            <a:ext cx="4480560" cy="3648456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555480" y="1508760"/>
            <a:ext cx="2148840" cy="4206240"/>
          </a:xfrm>
          <a:prstGeom prst="roundRect">
            <a:avLst>
              <a:gd name="adj" fmla="val 3404"/>
            </a:avLst>
          </a:prstGeom>
          <a:solidFill>
            <a:srgbClr val="0B2A4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4"/>
          <p:cNvSpPr/>
          <p:nvPr/>
        </p:nvSpPr>
        <p:spPr>
          <a:xfrm>
            <a:off x="9738360" y="1664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9738360" y="2057400"/>
            <a:ext cx="1828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080" dirty="0">
                <a:solidFill>
                  <a:srgbClr val="EA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67.3% Dangerous vs 32.7% Safe → class imbalance</a:t>
            </a:r>
            <a:endParaRPr lang="en-US" sz="108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080" i="1" dirty="0">
                <a:solidFill>
                  <a:srgbClr val="9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F1 / recall prioritised over accuracy</a:t>
            </a:r>
            <a:endParaRPr lang="en-US" sz="1080" dirty="0"/>
          </a:p>
          <a:p>
            <a:pPr marL="342900" indent="-342900">
              <a:spcAft>
                <a:spcPts val="900"/>
              </a:spcAft>
              <a:buSzPct val="100000"/>
              <a:buChar char="▪"/>
            </a:pPr>
            <a:r>
              <a:rPr lang="en-US" sz="1080" dirty="0">
                <a:solidFill>
                  <a:srgbClr val="EA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piPC09 ↔ PCD strongly correlated (r=0.74)</a:t>
            </a:r>
            <a:endParaRPr lang="en-US" sz="108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080" i="1" dirty="0">
                <a:solidFill>
                  <a:srgbClr val="9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features removed</a:t>
            </a:r>
            <a:endParaRPr lang="en-US" sz="1080" dirty="0"/>
          </a:p>
          <a:p>
            <a:pPr marL="342900" indent="-342900">
              <a:buSzPct val="100000"/>
              <a:buChar char="▪"/>
            </a:pPr>
            <a:r>
              <a:rPr lang="en-US" sz="1080" dirty="0">
                <a:solidFill>
                  <a:srgbClr val="EA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values; wide feature ranges → scaling required</a:t>
            </a:r>
            <a:endParaRPr lang="en-US" sz="1080" dirty="0"/>
          </a:p>
        </p:txBody>
      </p:sp>
      <p:sp>
        <p:nvSpPr>
          <p:cNvPr id="11" name="Text 6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7PAM2002 – Data Science Project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5029200" y="65471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B2A4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/home/claude/ppt_work/figs/icon_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6692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43584" y="62179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Pre-processing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02920" y="1600200"/>
            <a:ext cx="112014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3293D"/>
                </a:solidFill>
                <a:ea typeface="Calibri" pitchFamily="34" charset="-122"/>
                <a:cs typeface="Calibri" pitchFamily="34" charset="-120"/>
              </a:rPr>
              <a:t>Stratified 80 / 20 train-test split → 623 training / 156 test chemicals</a:t>
            </a:r>
            <a:endParaRPr lang="en-US" sz="145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450" i="1" dirty="0">
                <a:solidFill>
                  <a:srgbClr val="5C7A8C"/>
                </a:solidFill>
                <a:ea typeface="Calibri" pitchFamily="34" charset="-122"/>
                <a:cs typeface="Calibri" pitchFamily="34" charset="-120"/>
              </a:rPr>
              <a:t>Same Safe : Dangerous ratio preserved in both sets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450" b="1" dirty="0"/>
              <a:t>No missing values</a:t>
            </a:r>
            <a:r>
              <a:rPr lang="en-GB" sz="1450" dirty="0"/>
              <a:t> — 0 missing across all 779 chemicals, so no imputation needed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450" b="1" dirty="0"/>
              <a:t>Outlier check (IQR method)</a:t>
            </a:r>
            <a:r>
              <a:rPr lang="en-GB" sz="1450" dirty="0"/>
              <a:t> on all 9 descriptors — very few found, kept deliberately (real chemicals, not data errors)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450" b="1" dirty="0"/>
              <a:t>Feature scaling (</a:t>
            </a:r>
            <a:r>
              <a:rPr lang="en-GB" sz="1450" b="1" dirty="0" err="1"/>
              <a:t>StandardScaler</a:t>
            </a:r>
            <a:r>
              <a:rPr lang="en-GB" sz="1450" b="1" dirty="0"/>
              <a:t>)</a:t>
            </a:r>
            <a:r>
              <a:rPr lang="en-GB" sz="1450" dirty="0"/>
              <a:t> — puts all 9 descriptors on the same scale (zero mean, unit variance), since raw ranges vary hugely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450" b="1" dirty="0"/>
              <a:t>Class balancing (SMOTE)</a:t>
            </a:r>
            <a:r>
              <a:rPr lang="en-GB" sz="1450" dirty="0"/>
              <a:t> — dataset is 67% Dangerous vs 33% Safe, so SMOTE creates synthetic Safe examples; applied to training data only </a:t>
            </a:r>
          </a:p>
        </p:txBody>
      </p:sp>
      <p:sp>
        <p:nvSpPr>
          <p:cNvPr id="7" name="Shape 4"/>
          <p:cNvSpPr/>
          <p:nvPr/>
        </p:nvSpPr>
        <p:spPr>
          <a:xfrm>
            <a:off x="822960" y="4160520"/>
            <a:ext cx="1874520" cy="1051560"/>
          </a:xfrm>
          <a:prstGeom prst="roundRect">
            <a:avLst>
              <a:gd name="adj" fmla="val 7826"/>
            </a:avLst>
          </a:prstGeom>
          <a:solidFill>
            <a:srgbClr val="0B2A43"/>
          </a:solidFill>
          <a:ln/>
          <a:effectLst>
            <a:outerShdw blurRad="635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822960" y="416052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697480" y="416052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990088" y="4160520"/>
            <a:ext cx="1874520" cy="1051560"/>
          </a:xfrm>
          <a:prstGeom prst="roundRect">
            <a:avLst>
              <a:gd name="adj" fmla="val 7826"/>
            </a:avLst>
          </a:prstGeom>
          <a:solidFill>
            <a:srgbClr val="0B2A43"/>
          </a:solidFill>
          <a:ln/>
          <a:effectLst>
            <a:outerShdw blurRad="635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2990088" y="416052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split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864608" y="416052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157216" y="4160520"/>
            <a:ext cx="1874520" cy="1051560"/>
          </a:xfrm>
          <a:prstGeom prst="roundRect">
            <a:avLst>
              <a:gd name="adj" fmla="val 7826"/>
            </a:avLst>
          </a:prstGeom>
          <a:solidFill>
            <a:srgbClr val="0B2A43"/>
          </a:solidFill>
          <a:ln/>
          <a:effectLst>
            <a:outerShdw blurRad="635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5157216" y="416052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031736" y="416052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7324344" y="4160520"/>
            <a:ext cx="1874520" cy="1051560"/>
          </a:xfrm>
          <a:prstGeom prst="roundRect">
            <a:avLst>
              <a:gd name="adj" fmla="val 7826"/>
            </a:avLst>
          </a:prstGeom>
          <a:solidFill>
            <a:srgbClr val="0B2A43"/>
          </a:solidFill>
          <a:ln/>
          <a:effectLst>
            <a:outerShdw blurRad="635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7324344" y="416052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(train only)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198864" y="416052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9491472" y="4160520"/>
            <a:ext cx="1874520" cy="1051560"/>
          </a:xfrm>
          <a:prstGeom prst="roundRect">
            <a:avLst>
              <a:gd name="adj" fmla="val 7826"/>
            </a:avLst>
          </a:prstGeom>
          <a:solidFill>
            <a:srgbClr val="1C7293"/>
          </a:solidFill>
          <a:ln/>
          <a:effectLst>
            <a:outerShdw blurRad="635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9491472" y="416052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02920" y="5798489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GB" sz="1200" b="1" dirty="0"/>
              <a:t>Zero data leakage</a:t>
            </a:r>
            <a:r>
              <a:rPr lang="en-GB" sz="1200" dirty="0"/>
              <a:t> — Scaler + SMOTE are refit inside every one of the 5 cross-validation folds</a:t>
            </a:r>
            <a:endParaRPr lang="en-US" sz="1200" dirty="0"/>
          </a:p>
          <a:p>
            <a:pPr marL="0" indent="0" algn="ctr">
              <a:buNone/>
            </a:pPr>
            <a:r>
              <a:rPr lang="en-US" sz="1150" i="1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refit independently inside every 5-fold cross-validation split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7PAM2002 – Data Science Project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029200" y="65471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B2A4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/home/claude/ppt_work/figs/icon_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6692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43584" y="62179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&amp; Method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2920" y="1554480"/>
            <a:ext cx="6675120" cy="1298448"/>
          </a:xfrm>
          <a:prstGeom prst="roundRect">
            <a:avLst>
              <a:gd name="adj" fmla="val 5634"/>
            </a:avLst>
          </a:prstGeom>
          <a:solidFill>
            <a:srgbClr val="F2F7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731520" y="16459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1984248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decision boundary; interpretable coefficients / odds ratios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23774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Tuned: C, penalty (L1 / L2)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2999232"/>
            <a:ext cx="6675120" cy="1298448"/>
          </a:xfrm>
          <a:prstGeom prst="roundRect">
            <a:avLst>
              <a:gd name="adj" fmla="val 5634"/>
            </a:avLst>
          </a:prstGeom>
          <a:solidFill>
            <a:srgbClr val="F2F7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731520" y="309067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1520" y="34290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 voting on the outcome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1520" y="382219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Tuned: n_estimators, max_depth, min_samples_leaf, max_features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" y="4443984"/>
            <a:ext cx="6675120" cy="1298448"/>
          </a:xfrm>
          <a:prstGeom prst="roundRect">
            <a:avLst>
              <a:gd name="adj" fmla="val 5634"/>
            </a:avLst>
          </a:prstGeom>
          <a:solidFill>
            <a:srgbClr val="F2F7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731520" y="4535424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31520" y="487375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boosted trees, each correcting the last one's errors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31520" y="526694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Tuned: n_estimators, max_depth, learning_rate, subsample, colsample_bytree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452360" y="1554480"/>
            <a:ext cx="4251960" cy="4343400"/>
          </a:xfrm>
          <a:prstGeom prst="roundRect">
            <a:avLst>
              <a:gd name="adj" fmla="val 1720"/>
            </a:avLst>
          </a:prstGeom>
          <a:solidFill>
            <a:srgbClr val="071726"/>
          </a:solidFill>
          <a:ln/>
          <a:effectLst>
            <a:outerShdw blurRad="76200" dist="25400" dir="5400000" algn="bl" rotWithShape="0">
              <a:srgbClr val="888888">
                <a:alpha val="3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7680960" y="16916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share one fair, leak-free procedure: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7680960" y="2331720"/>
            <a:ext cx="3840480" cy="3474720"/>
          </a:xfrm>
          <a:prstGeom prst="rect">
            <a:avLst/>
          </a:prstGeom>
          <a:solidFill>
            <a:srgbClr val="071726"/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 = Pipeline([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('scaler', StandardScaler()),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('smote',  SMOTE()),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('clf',    classifier)])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 = StratifiedKFold(n_splits=5)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= GridSearchCV(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pipe, param_grid,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scoring='f1', cv=cv)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search.fit(X_train, y_train)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7PAM2002 – Data Science Project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029200" y="65471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B2A4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/home/claude/ppt_work/figs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6692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43584" y="62179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Results</a:t>
            </a:r>
            <a:endParaRPr lang="en-US" sz="3000" dirty="0"/>
          </a:p>
        </p:txBody>
      </p:sp>
      <p:pic>
        <p:nvPicPr>
          <p:cNvPr id="6" name="Image 1" descr="/home/claude/ppt_work/figs/05_confusion_matri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481328"/>
            <a:ext cx="10652760" cy="3547872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5321808"/>
          <a:ext cx="10652760" cy="1097280"/>
        </p:xfrm>
        <a:graphic>
          <a:graphicData uri="http://schemas.openxmlformats.org/drawingml/2006/table">
            <a:tbl>
              <a:tblPr/>
              <a:tblGrid>
                <a:gridCol w="3154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9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9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96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96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96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289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329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7PAM2002 – Data Science Project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5029200" y="65471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B2A4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/home/claude/ppt_work/figs/icon_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6692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43584" y="62179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Tuning</a:t>
            </a:r>
            <a:endParaRPr lang="en-US" sz="3000" dirty="0"/>
          </a:p>
        </p:txBody>
      </p:sp>
      <p:pic>
        <p:nvPicPr>
          <p:cNvPr id="6" name="Image 1" descr="/home/claude/ppt_work/figs/11_hyperparam_tu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536192"/>
            <a:ext cx="6080760" cy="394106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903720" y="1441704"/>
            <a:ext cx="4800600" cy="4526280"/>
          </a:xfrm>
          <a:prstGeom prst="roundRect">
            <a:avLst>
              <a:gd name="adj" fmla="val 1616"/>
            </a:avLst>
          </a:prstGeom>
          <a:solidFill>
            <a:srgbClr val="F2F7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4"/>
          <p:cNvSpPr/>
          <p:nvPr/>
        </p:nvSpPr>
        <p:spPr>
          <a:xfrm>
            <a:off x="7132320" y="164592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configuration per model (GridSearchCV, 5-fold, scored on F1)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132320" y="221284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7132320" y="2487168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1, penalty = L1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132320" y="310896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132320" y="3383280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 = 200, max_depth = None, min_samples_leaf = 2, max_features = sqrt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132320" y="400507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7132320" y="4279392"/>
            <a:ext cx="4343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32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 = 200, max_depth = 5, learning_rate = 0.1, subsample = 0.8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132320" y="4974336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combination is exhaustively searched — for Random Forest alone the grid covers 2×3×3×1 = 18 settings × 5 folds = 90 fits.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7PAM2002 – Data Science Project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5029200" y="65471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50DA9E06-B3C6-599A-1BC1-C70CFB3E7B62}"/>
              </a:ext>
            </a:extLst>
          </p:cNvPr>
          <p:cNvSpPr/>
          <p:nvPr/>
        </p:nvSpPr>
        <p:spPr>
          <a:xfrm>
            <a:off x="1869882" y="5548619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GB" sz="1050" i="1" dirty="0">
                <a:solidFill>
                  <a:schemeClr val="bg2">
                    <a:lumMod val="75000"/>
                  </a:schemeClr>
                </a:solidFill>
              </a:rPr>
              <a:t>Chart shows Random Forest's tuning process as an example — all three models were tuned the same way via </a:t>
            </a:r>
            <a:r>
              <a:rPr lang="en-GB" sz="1050" i="1" dirty="0" err="1">
                <a:solidFill>
                  <a:schemeClr val="bg2">
                    <a:lumMod val="75000"/>
                  </a:schemeClr>
                </a:solidFill>
              </a:rPr>
              <a:t>GridSearchCV</a:t>
            </a:r>
            <a:r>
              <a:rPr lang="en-GB" sz="1050" i="1" dirty="0">
                <a:solidFill>
                  <a:schemeClr val="bg2">
                    <a:lumMod val="75000"/>
                  </a:schemeClr>
                </a:solidFill>
              </a:rPr>
              <a:t>.</a:t>
            </a:r>
            <a:endParaRPr lang="en-US" sz="1050" i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B2A4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/home/claude/ppt_work/figs/icon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6692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43584" y="62179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&amp; Interpretation</a:t>
            </a:r>
            <a:endParaRPr lang="en-US" sz="3000" dirty="0"/>
          </a:p>
        </p:txBody>
      </p:sp>
      <p:pic>
        <p:nvPicPr>
          <p:cNvPr id="6" name="Image 1" descr="/home/claude/ppt_work/figs/09_pr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536192"/>
            <a:ext cx="5212080" cy="41696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35040" y="1536192"/>
            <a:ext cx="56692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GB" sz="1400" dirty="0"/>
              <a:t>All three models performed much better than the 67% no-skill baseline.</a:t>
            </a:r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GB" sz="1400" dirty="0" err="1"/>
              <a:t>XGBoost</a:t>
            </a:r>
            <a:r>
              <a:rPr lang="en-GB" sz="1400" dirty="0"/>
              <a:t> achieved the </a:t>
            </a:r>
            <a:r>
              <a:rPr lang="en-GB" sz="1400" b="1" dirty="0"/>
              <a:t>highest F1 score (0.827).</a:t>
            </a:r>
            <a:r>
              <a:rPr lang="en-GB" sz="1400" dirty="0"/>
              <a:t> </a:t>
            </a:r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GB" sz="1400" dirty="0"/>
              <a:t>Random Forest achieved the</a:t>
            </a:r>
            <a:r>
              <a:rPr lang="en-GB" sz="1400" b="1" dirty="0"/>
              <a:t> best ROC-AUC (0.823) </a:t>
            </a:r>
            <a:r>
              <a:rPr lang="en-GB" sz="1400" dirty="0"/>
              <a:t>and </a:t>
            </a:r>
            <a:r>
              <a:rPr lang="en-GB" sz="1400" b="1" dirty="0"/>
              <a:t>PR-AUC (0.902).</a:t>
            </a:r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GB" sz="1400" dirty="0"/>
              <a:t>Logistic Regression also </a:t>
            </a:r>
            <a:r>
              <a:rPr lang="en-GB" sz="1400" b="1" dirty="0"/>
              <a:t>performed well (F1 = 0.812)</a:t>
            </a:r>
            <a:r>
              <a:rPr lang="en-GB" sz="1400" dirty="0"/>
              <a:t> and is easy to interpret using </a:t>
            </a:r>
            <a:r>
              <a:rPr lang="en-GB" sz="1400" b="1" dirty="0"/>
              <a:t>odds ratios</a:t>
            </a:r>
            <a:r>
              <a:rPr lang="en-GB" sz="1400" dirty="0"/>
              <a:t>.</a:t>
            </a:r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GB" sz="1400" dirty="0"/>
              <a:t> </a:t>
            </a:r>
            <a:r>
              <a:rPr lang="en-GB" sz="1400" b="1" dirty="0"/>
              <a:t>Reducing</a:t>
            </a:r>
            <a:r>
              <a:rPr lang="en-GB" sz="1400" dirty="0"/>
              <a:t> </a:t>
            </a:r>
            <a:r>
              <a:rPr lang="en-GB" sz="1400" dirty="0" err="1"/>
              <a:t>XGBoost's</a:t>
            </a:r>
            <a:r>
              <a:rPr lang="en-GB" sz="1400" dirty="0"/>
              <a:t> decision threshold </a:t>
            </a:r>
            <a:r>
              <a:rPr lang="en-GB" sz="1400" b="1" dirty="0"/>
              <a:t>(0.50 → ~0.40)</a:t>
            </a:r>
            <a:r>
              <a:rPr lang="en-GB" sz="1400" dirty="0"/>
              <a:t> increases </a:t>
            </a:r>
            <a:r>
              <a:rPr lang="en-GB" sz="1400" b="1" dirty="0"/>
              <a:t>recall</a:t>
            </a:r>
            <a:r>
              <a:rPr lang="en-GB" sz="1400" dirty="0"/>
              <a:t> and improves the </a:t>
            </a:r>
            <a:r>
              <a:rPr lang="en-GB" sz="1400" b="1" dirty="0"/>
              <a:t>F1 score</a:t>
            </a:r>
            <a:r>
              <a:rPr lang="en-GB" sz="1400" dirty="0"/>
              <a:t>. </a:t>
            </a:r>
          </a:p>
          <a:p>
            <a:pPr marL="342900" indent="-342900">
              <a:spcAft>
                <a:spcPts val="1100"/>
              </a:spcAft>
              <a:buSzPct val="100000"/>
              <a:buChar char="▪"/>
            </a:pPr>
            <a:r>
              <a:rPr lang="en-GB" sz="1400" b="1" dirty="0"/>
              <a:t>For environmental screening, higher recall is preferred</a:t>
            </a:r>
            <a:r>
              <a:rPr lang="en-GB" sz="1400" dirty="0"/>
              <a:t> because missing a dangerous chemical is more serious than a false alarm</a:t>
            </a:r>
            <a:endParaRPr lang="en-US" sz="1320" dirty="0"/>
          </a:p>
        </p:txBody>
      </p:sp>
      <p:sp>
        <p:nvSpPr>
          <p:cNvPr id="8" name="Text 4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7PAM2002 – Data Science Project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029200" y="65471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-1463040"/>
            <a:ext cx="4206240" cy="4206240"/>
          </a:xfrm>
          <a:prstGeom prst="ellipse">
            <a:avLst/>
          </a:prstGeom>
          <a:solidFill>
            <a:srgbClr val="0B2A43">
              <a:alpha val="5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B2A4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ppt_work/figs/icon_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6692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61872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243584" y="62179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Conclusions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243584" y="1691640"/>
            <a:ext cx="10003536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EA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Logistic Regression, Random Forest and XGBoost to classify 779 chemicals as Dangerous or Safe from 9 molecular descriptors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EA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achieved the best F1-score (0.827); Random Forest was a close second with the best ROC-AUC (0.823)</a:t>
            </a:r>
            <a:endParaRPr lang="en-US" sz="1600" dirty="0"/>
          </a:p>
          <a:p>
            <a:pPr marL="342900" indent="-342900">
              <a:lnSpc>
                <a:spcPct val="150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EA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hyperparameter tuning (GridSearchCV, F1-scored), tuned </a:t>
            </a:r>
            <a:r>
              <a:rPr lang="en-US" sz="1600" dirty="0" err="1">
                <a:solidFill>
                  <a:srgbClr val="EA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r>
              <a:rPr lang="en-US" sz="1600" dirty="0">
                <a:solidFill>
                  <a:srgbClr val="EA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- 200 trees, depth 5, learning rate 0.1 - is the best overall result.</a:t>
            </a:r>
            <a:endParaRPr lang="en-GB" sz="16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50000"/>
              </a:lnSpc>
              <a:spcAft>
                <a:spcPts val="1400"/>
              </a:spcAft>
              <a:buSzPct val="100000"/>
              <a:buChar char="▪"/>
            </a:pPr>
            <a:r>
              <a:rPr lang="en-GB" sz="1600" dirty="0">
                <a:solidFill>
                  <a:schemeClr val="bg1"/>
                </a:solidFill>
              </a:rPr>
              <a:t>Tree-based models (Random Forest, </a:t>
            </a:r>
            <a:r>
              <a:rPr lang="en-GB" sz="1600" dirty="0" err="1">
                <a:solidFill>
                  <a:schemeClr val="bg1"/>
                </a:solidFill>
              </a:rPr>
              <a:t>XGBoost</a:t>
            </a:r>
            <a:r>
              <a:rPr lang="en-GB" sz="1600" dirty="0">
                <a:solidFill>
                  <a:schemeClr val="bg1"/>
                </a:solidFill>
              </a:rPr>
              <a:t>) suit this problem better than simple linear models. </a:t>
            </a:r>
          </a:p>
          <a:p>
            <a:pPr marL="342900" indent="-342900">
              <a:lnSpc>
                <a:spcPct val="150000"/>
              </a:lnSpc>
              <a:spcAft>
                <a:spcPts val="1400"/>
              </a:spcAft>
              <a:buSzPct val="100000"/>
              <a:buChar char="▪"/>
            </a:pPr>
            <a:r>
              <a:rPr lang="en-GB" sz="1600" dirty="0">
                <a:solidFill>
                  <a:schemeClr val="bg1"/>
                </a:solidFill>
              </a:rPr>
              <a:t>For chemical safety screening, catching dangerous chemicals matters more than raw accuracy — so the model's decision threshold can be tuned to prioritise recall..</a:t>
            </a:r>
          </a:p>
          <a:p>
            <a:pPr marL="342900" indent="-342900">
              <a:lnSpc>
                <a:spcPct val="150000"/>
              </a:lnSpc>
              <a:spcAft>
                <a:spcPts val="1400"/>
              </a:spcAft>
              <a:buSzPct val="100000"/>
              <a:buChar char="▪"/>
            </a:pPr>
            <a:r>
              <a:rPr lang="en-GB" sz="1600" dirty="0">
                <a:solidFill>
                  <a:schemeClr val="bg1"/>
                </a:solidFill>
              </a:rPr>
              <a:t>These results support using ML as an early, low-cost screening step before expensive lab-based BCF testing</a:t>
            </a:r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endParaRPr lang="en-US" sz="1650" dirty="0"/>
          </a:p>
          <a:p>
            <a:pPr>
              <a:spcAft>
                <a:spcPts val="1400"/>
              </a:spcAft>
              <a:buSzPct val="100000"/>
            </a:pP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7PAM2002 – Data Science Project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0" y="65471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7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BA1CB4-D25B-8E81-6450-A24D89A80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8EFA2A9-75BA-2101-1F93-A9864A191978}"/>
              </a:ext>
            </a:extLst>
          </p:cNvPr>
          <p:cNvSpPr/>
          <p:nvPr/>
        </p:nvSpPr>
        <p:spPr>
          <a:xfrm>
            <a:off x="10058400" y="-1463040"/>
            <a:ext cx="4206240" cy="4206240"/>
          </a:xfrm>
          <a:prstGeom prst="ellipse">
            <a:avLst/>
          </a:prstGeom>
          <a:solidFill>
            <a:srgbClr val="0B2A43">
              <a:alpha val="5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1920072-F313-5B01-2D82-485E60B51D27}"/>
              </a:ext>
            </a:extLst>
          </p:cNvPr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B2A4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ppt_work/figs/icon_flag.png">
            <a:extLst>
              <a:ext uri="{FF2B5EF4-FFF2-40B4-BE49-F238E27FC236}">
                <a16:creationId xmlns:a16="http://schemas.microsoft.com/office/drawing/2014/main" id="{6B86A9E5-5B4A-916C-9998-7AD0BCB91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66928"/>
            <a:ext cx="292608" cy="292608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BA0A153D-DAF4-5F86-4F90-B3C92F21978A}"/>
              </a:ext>
            </a:extLst>
          </p:cNvPr>
          <p:cNvSpPr/>
          <p:nvPr/>
        </p:nvSpPr>
        <p:spPr>
          <a:xfrm>
            <a:off x="1261872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13</a:t>
            </a:r>
            <a:endParaRPr lang="en-US" sz="1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8010E65-17CC-93A4-479C-5B28517FDEC0}"/>
              </a:ext>
            </a:extLst>
          </p:cNvPr>
          <p:cNvSpPr/>
          <p:nvPr/>
        </p:nvSpPr>
        <p:spPr>
          <a:xfrm>
            <a:off x="1243584" y="62179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Dashboard Overview – Test 1(Safe)</a:t>
            </a:r>
            <a:endParaRPr lang="en-US" sz="30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265339B-90D5-E408-F917-0DBC423D183D}"/>
              </a:ext>
            </a:extLst>
          </p:cNvPr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7PAM2002 – Data Science Project</a:t>
            </a:r>
            <a:endParaRPr lang="en-US" sz="9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CF139F5-BD45-52A9-0021-B253EEC89A89}"/>
              </a:ext>
            </a:extLst>
          </p:cNvPr>
          <p:cNvSpPr/>
          <p:nvPr/>
        </p:nvSpPr>
        <p:spPr>
          <a:xfrm>
            <a:off x="5029200" y="65471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B1232678-BD6A-C352-EF83-30EEDEED4C61}"/>
              </a:ext>
            </a:extLst>
          </p:cNvPr>
          <p:cNvSpPr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6EB2540-CB7C-DF7A-B610-076258BAD4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92" y="1233350"/>
            <a:ext cx="10450231" cy="471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946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7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808DB5-4A3B-EAFB-A810-3171FBC45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0DE96E8-8CE8-1423-3450-9A78DF9D533D}"/>
              </a:ext>
            </a:extLst>
          </p:cNvPr>
          <p:cNvSpPr/>
          <p:nvPr/>
        </p:nvSpPr>
        <p:spPr>
          <a:xfrm>
            <a:off x="10058400" y="-1463040"/>
            <a:ext cx="4206240" cy="4206240"/>
          </a:xfrm>
          <a:prstGeom prst="ellipse">
            <a:avLst/>
          </a:prstGeom>
          <a:solidFill>
            <a:srgbClr val="0B2A43">
              <a:alpha val="5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F961DC3-3777-79FF-D7AB-8DC1EA58847E}"/>
              </a:ext>
            </a:extLst>
          </p:cNvPr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B2A4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ppt_work/figs/icon_flag.png">
            <a:extLst>
              <a:ext uri="{FF2B5EF4-FFF2-40B4-BE49-F238E27FC236}">
                <a16:creationId xmlns:a16="http://schemas.microsoft.com/office/drawing/2014/main" id="{D19E8A58-EEA7-68DD-D9F9-FE0760DD0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66928"/>
            <a:ext cx="292608" cy="292608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A4022F5D-738E-B31E-5CAE-2EFF567B00C7}"/>
              </a:ext>
            </a:extLst>
          </p:cNvPr>
          <p:cNvSpPr/>
          <p:nvPr/>
        </p:nvSpPr>
        <p:spPr>
          <a:xfrm>
            <a:off x="1261872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13</a:t>
            </a:r>
            <a:endParaRPr lang="en-US" sz="1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432583A-AC93-1941-8B6C-5D1DCE0E3ADD}"/>
              </a:ext>
            </a:extLst>
          </p:cNvPr>
          <p:cNvSpPr/>
          <p:nvPr/>
        </p:nvSpPr>
        <p:spPr>
          <a:xfrm>
            <a:off x="1243584" y="62179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Dashboard Overview- Test 2 (Toxic)</a:t>
            </a:r>
            <a:endParaRPr lang="en-US" sz="30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051DC0F-0C09-83C0-5AC7-889EEFCBB01A}"/>
              </a:ext>
            </a:extLst>
          </p:cNvPr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7PAM2002 – Data Science Project</a:t>
            </a:r>
            <a:endParaRPr lang="en-US" sz="9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2A643A8-1F3B-9311-2679-50FEC8769DCE}"/>
              </a:ext>
            </a:extLst>
          </p:cNvPr>
          <p:cNvSpPr/>
          <p:nvPr/>
        </p:nvSpPr>
        <p:spPr>
          <a:xfrm>
            <a:off x="5029200" y="65471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AB29D4B-CC5C-0A6D-BC1D-0F9BF74AC638}"/>
              </a:ext>
            </a:extLst>
          </p:cNvPr>
          <p:cNvSpPr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82B9C8-77EB-A136-8766-A8ABF8D08D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097280"/>
            <a:ext cx="11499702" cy="5272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02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7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B85A95-E52A-F5E4-DA54-CC9F36B7F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6AD1EAB-82A2-C5FF-AC22-B3AB599B2061}"/>
              </a:ext>
            </a:extLst>
          </p:cNvPr>
          <p:cNvSpPr/>
          <p:nvPr/>
        </p:nvSpPr>
        <p:spPr>
          <a:xfrm>
            <a:off x="10058400" y="-1463040"/>
            <a:ext cx="4206240" cy="4206240"/>
          </a:xfrm>
          <a:prstGeom prst="ellipse">
            <a:avLst/>
          </a:prstGeom>
          <a:solidFill>
            <a:srgbClr val="0B2A43">
              <a:alpha val="5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F33DA2C-0650-951E-CCFE-C4EFE372151D}"/>
              </a:ext>
            </a:extLst>
          </p:cNvPr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B2A4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ppt_work/figs/icon_flag.png">
            <a:extLst>
              <a:ext uri="{FF2B5EF4-FFF2-40B4-BE49-F238E27FC236}">
                <a16:creationId xmlns:a16="http://schemas.microsoft.com/office/drawing/2014/main" id="{F59739A3-E3D5-BD17-2A31-24D4143FB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66928"/>
            <a:ext cx="292608" cy="292608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A8F120C-996F-413C-4FA9-551AC55528C3}"/>
              </a:ext>
            </a:extLst>
          </p:cNvPr>
          <p:cNvSpPr/>
          <p:nvPr/>
        </p:nvSpPr>
        <p:spPr>
          <a:xfrm>
            <a:off x="1261872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13</a:t>
            </a:r>
            <a:endParaRPr lang="en-US" sz="1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6642E1D-26C0-84B8-D8CD-3EFB290A2981}"/>
              </a:ext>
            </a:extLst>
          </p:cNvPr>
          <p:cNvSpPr/>
          <p:nvPr/>
        </p:nvSpPr>
        <p:spPr>
          <a:xfrm>
            <a:off x="1243584" y="62179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Dashboard Overview </a:t>
            </a:r>
            <a:endParaRPr lang="en-US" sz="30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911795E-88A3-ECAA-D650-ECEC33A49ACF}"/>
              </a:ext>
            </a:extLst>
          </p:cNvPr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7PAM2002 – Data Science Project</a:t>
            </a:r>
            <a:endParaRPr lang="en-US" sz="9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1546FCF-5A38-8A67-A4E0-AA064795BEFE}"/>
              </a:ext>
            </a:extLst>
          </p:cNvPr>
          <p:cNvSpPr/>
          <p:nvPr/>
        </p:nvSpPr>
        <p:spPr>
          <a:xfrm>
            <a:off x="5029200" y="65471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8519163-D68F-54A4-E908-2D6C7F18E513}"/>
              </a:ext>
            </a:extLst>
          </p:cNvPr>
          <p:cNvSpPr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18829E-C226-2A0E-4E09-19BCECC57F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790" t="8547" r="15518" b="6488"/>
          <a:stretch>
            <a:fillRect/>
          </a:stretch>
        </p:blipFill>
        <p:spPr>
          <a:xfrm>
            <a:off x="251255" y="1170432"/>
            <a:ext cx="6294696" cy="336861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F9C0483-1CE4-977F-5120-4408E5F1B64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135" t="4509" r="13040" b="2374"/>
          <a:stretch>
            <a:fillRect/>
          </a:stretch>
        </p:blipFill>
        <p:spPr>
          <a:xfrm>
            <a:off x="6545951" y="3132767"/>
            <a:ext cx="5615569" cy="332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962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603504" cy="603504"/>
          </a:xfrm>
          <a:prstGeom prst="ellipse">
            <a:avLst/>
          </a:prstGeom>
          <a:solidFill>
            <a:srgbClr val="0B2A4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/home/claude/ppt_work/figs/icon_l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66928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43584" y="62179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243584" y="1691640"/>
            <a:ext cx="102412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EAF6FA"/>
                </a:solidFill>
                <a:ea typeface="Calibri" pitchFamily="34" charset="-122"/>
                <a:cs typeface="Calibri" pitchFamily="34" charset="-120"/>
              </a:rPr>
              <a:t>Grisoni, F., Consonni, V., Vighi, M., Villa, S. and Todeschini, R. (2016) 'Investigating the mechanisms of bioconcentration through QSAR classification trees', Environment International, 88, pp. 198–205. https://doi.org/10.1016/j.envint.2015.12.024</a:t>
            </a:r>
            <a:endParaRPr lang="en-US" sz="1650" dirty="0"/>
          </a:p>
          <a:p>
            <a:pPr marL="342900" indent="-342900" algn="just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EAF6FA"/>
                </a:solidFill>
                <a:ea typeface="Calibri" pitchFamily="34" charset="-122"/>
                <a:cs typeface="Calibri" pitchFamily="34" charset="-120"/>
              </a:rPr>
              <a:t>Kobayashi, Y. and Yoshida, K. (2021) 'Development of QSAR models for prediction of fish bioconcentration factors using physicochemical properties and molecular descriptors with machine learning algorithms', Ecological Informatics, 63, 101285. https://doi.org/10.1016/j.ecoinf.2021.101285</a:t>
            </a:r>
            <a:endParaRPr lang="en-US" sz="1650" dirty="0"/>
          </a:p>
          <a:p>
            <a:pPr marL="342900" indent="-342900" algn="just"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EAF6FA"/>
                </a:solidFill>
                <a:ea typeface="Calibri" pitchFamily="34" charset="-122"/>
                <a:cs typeface="Calibri" pitchFamily="34" charset="-120"/>
              </a:rPr>
              <a:t>Pore, S., Pelloux, A., Chatterjee, M., Banerjee, A. and Roy, K. (2024) 'Machine learning-based q-RASAR predictions of the bioconcentration factor of organic molecules estimated following the OECD guideline 305', Journal of Hazardous Materials, 479, 135725. https://doi.org/10.1016/j.jhazmat.2024.135725</a:t>
            </a:r>
            <a:endParaRPr lang="en-US" sz="1650" dirty="0"/>
          </a:p>
          <a:p>
            <a:pPr>
              <a:spcAft>
                <a:spcPts val="1600"/>
              </a:spcAft>
              <a:buSzPct val="100000"/>
            </a:pP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7PAM2002 – Data Science Project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029200" y="65471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1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2344</TotalTime>
  <Words>1844</Words>
  <Application>Microsoft Office PowerPoint</Application>
  <PresentationFormat>Widescreen</PresentationFormat>
  <Paragraphs>280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DANUSHMATHI PATHMANABAN</cp:lastModifiedBy>
  <cp:revision>3</cp:revision>
  <dcterms:created xsi:type="dcterms:W3CDTF">2026-07-13T23:56:50Z</dcterms:created>
  <dcterms:modified xsi:type="dcterms:W3CDTF">2026-07-15T15:08:36Z</dcterms:modified>
</cp:coreProperties>
</file>